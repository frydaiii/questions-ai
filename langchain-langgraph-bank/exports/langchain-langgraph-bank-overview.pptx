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Authored</c:v>
                </c:pt>
              </c:strCache>
            </c:strRef>
          </c:tx>
          <c:spPr>
            <a:solidFill>
              <a:srgbClr val="2DD4BF"/>
            </a:solidFill>
          </c:spPr>
          <c:dLbls>
            <c:numFmt formatCode="0;;" sourceLinked="0"/>
            <c:txPr>
              <a:bodyPr/>
              <a:lstStyle/>
              <a:p>
                <a:pPr>
                  <a:defRPr sz="12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Architectures</c:v>
                </c:pt>
                <c:pt idx="1">
                  <c:v>D2 Reasoning</c:v>
                </c:pt>
                <c:pt idx="2">
                  <c:v>D3 Tools</c:v>
                </c:pt>
                <c:pt idx="3">
                  <c:v>D4 Memory</c:v>
                </c:pt>
                <c:pt idx="4">
                  <c:v>D5 Multi-Agent</c:v>
                </c:pt>
                <c:pt idx="5">
                  <c:v>D6 Safety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86</c:v>
                </c:pt>
                <c:pt idx="2">
                  <c:v>82</c:v>
                </c:pt>
                <c:pt idx="3">
                  <c:v>82</c:v>
                </c:pt>
                <c:pt idx="4">
                  <c:v>86</c:v>
                </c:pt>
                <c:pt idx="5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334155"/>
            </a:solidFill>
          </c:spPr>
          <c:dLbls>
            <c:numFmt formatCode="0;;" sourceLinked="0"/>
            <c:txPr>
              <a:bodyPr/>
              <a:lstStyle/>
              <a:p>
                <a:pPr>
                  <a:defRPr sz="12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Architectures</c:v>
                </c:pt>
                <c:pt idx="1">
                  <c:v>D2 Reasoning</c:v>
                </c:pt>
                <c:pt idx="2">
                  <c:v>D3 Tools</c:v>
                </c:pt>
                <c:pt idx="3">
                  <c:v>D4 Memory</c:v>
                </c:pt>
                <c:pt idx="4">
                  <c:v>D5 Multi-Agent</c:v>
                </c:pt>
                <c:pt idx="5">
                  <c:v>D6 Safety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dPt>
            <c:idx val="0"/>
            <c:spPr>
              <a:solidFill>
                <a:srgbClr val="4ADE80"/>
              </a:solidFill>
            </c:spPr>
          </c:dPt>
          <c:dPt>
            <c:idx val="1"/>
            <c:spPr>
              <a:solidFill>
                <a:srgbClr val="4ADE80"/>
              </a:solidFill>
            </c:spPr>
          </c:dPt>
          <c:dPt>
            <c:idx val="2"/>
            <c:spPr>
              <a:solidFill>
                <a:srgbClr val="4ADE80"/>
              </a:solidFill>
            </c:spPr>
          </c:dPt>
          <c:dPt>
            <c:idx val="3"/>
            <c:spPr>
              <a:solidFill>
                <a:srgbClr val="4ADE80"/>
              </a:solidFill>
            </c:spPr>
          </c:dPt>
          <c:dPt>
            <c:idx val="4"/>
            <c:spPr>
              <a:solidFill>
                <a:srgbClr val="4ADE80"/>
              </a:solidFill>
            </c:spPr>
          </c:dPt>
          <c:dPt>
            <c:idx val="5"/>
            <c:spPr>
              <a:solidFill>
                <a:srgbClr val="4ADE80"/>
              </a:solidFill>
            </c:spPr>
          </c:dPt>
          <c:dPt>
            <c:idx val="6"/>
            <c:spPr>
              <a:solidFill>
                <a:srgbClr val="4ADE80"/>
              </a:solidFill>
            </c:spPr>
          </c:dPt>
          <c:dPt>
            <c:idx val="7"/>
            <c:spPr>
              <a:solidFill>
                <a:srgbClr val="4ADE80"/>
              </a:solidFill>
            </c:spPr>
          </c:dPt>
          <c:dPt>
            <c:idx val="8"/>
            <c:spPr>
              <a:solidFill>
                <a:srgbClr val="4ADE80"/>
              </a:solidFill>
            </c:spPr>
          </c:dPt>
          <c:dPt>
            <c:idx val="9"/>
            <c:spPr>
              <a:solidFill>
                <a:srgbClr val="4ADE80"/>
              </a:solidFill>
            </c:spPr>
          </c:dPt>
          <c:dPt>
            <c:idx val="10"/>
            <c:spPr>
              <a:solidFill>
                <a:srgbClr val="4ADE80"/>
              </a:solidFill>
            </c:spPr>
          </c:dPt>
          <c:dPt>
            <c:idx val="11"/>
            <c:spPr>
              <a:solidFill>
                <a:srgbClr val="4ADE80"/>
              </a:solidFill>
            </c:spPr>
          </c:dPt>
          <c:dPt>
            <c:idx val="12"/>
            <c:spPr>
              <a:solidFill>
                <a:srgbClr val="4ADE80"/>
              </a:solidFill>
            </c:spPr>
          </c:dPt>
          <c:dPt>
            <c:idx val="13"/>
            <c:spPr>
              <a:solidFill>
                <a:srgbClr val="4ADE80"/>
              </a:solidFill>
            </c:spPr>
          </c:dPt>
          <c:dPt>
            <c:idx val="14"/>
            <c:spPr>
              <a:solidFill>
                <a:srgbClr val="4ADE80"/>
              </a:solidFill>
            </c:spPr>
          </c:dPt>
          <c:dPt>
            <c:idx val="15"/>
            <c:spPr>
              <a:solidFill>
                <a:srgbClr val="4ADE80"/>
              </a:solidFill>
            </c:spPr>
          </c:dPt>
          <c:dPt>
            <c:idx val="16"/>
            <c:spPr>
              <a:solidFill>
                <a:srgbClr val="4ADE80"/>
              </a:solidFill>
            </c:spPr>
          </c:dPt>
          <c:dPt>
            <c:idx val="17"/>
            <c:spPr>
              <a:solidFill>
                <a:srgbClr val="4ADE80"/>
              </a:solidFill>
            </c:spPr>
          </c:dPt>
          <c:dPt>
            <c:idx val="18"/>
            <c:spPr>
              <a:solidFill>
                <a:srgbClr val="4ADE80"/>
              </a:solidFill>
            </c:spPr>
          </c:dPt>
          <c:dPt>
            <c:idx val="19"/>
            <c:spPr>
              <a:solidFill>
                <a:srgbClr val="4ADE80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100">
                    <a:solidFill>
                      <a:srgbClr val="F8FAF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1.1</c:v>
                </c:pt>
                <c:pt idx="1">
                  <c:v>1.2</c:v>
                </c:pt>
                <c:pt idx="2">
                  <c:v>1.3</c:v>
                </c:pt>
                <c:pt idx="3">
                  <c:v>2.1</c:v>
                </c:pt>
                <c:pt idx="4">
                  <c:v>2.2</c:v>
                </c:pt>
                <c:pt idx="5">
                  <c:v>2.3</c:v>
                </c:pt>
                <c:pt idx="6">
                  <c:v>2.4</c:v>
                </c:pt>
                <c:pt idx="7">
                  <c:v>3.1</c:v>
                </c:pt>
                <c:pt idx="8">
                  <c:v>3.2</c:v>
                </c:pt>
                <c:pt idx="9">
                  <c:v>3.3</c:v>
                </c:pt>
                <c:pt idx="10">
                  <c:v>4.1</c:v>
                </c:pt>
                <c:pt idx="11">
                  <c:v>4.2</c:v>
                </c:pt>
                <c:pt idx="12">
                  <c:v>4.3</c:v>
                </c:pt>
                <c:pt idx="13">
                  <c:v>5.1</c:v>
                </c:pt>
                <c:pt idx="14">
                  <c:v>5.2</c:v>
                </c:pt>
                <c:pt idx="15">
                  <c:v>5.3</c:v>
                </c:pt>
                <c:pt idx="16">
                  <c:v>5.4</c:v>
                </c:pt>
                <c:pt idx="17">
                  <c:v>6.1</c:v>
                </c:pt>
                <c:pt idx="18">
                  <c:v>6.2</c:v>
                </c:pt>
                <c:pt idx="19">
                  <c:v>6.3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  <c:pt idx="12">
                  <c:v>100.0</c:v>
                </c:pt>
                <c:pt idx="13">
                  <c:v>100.0</c:v>
                </c:pt>
                <c:pt idx="14">
                  <c:v>100.0</c:v>
                </c:pt>
                <c:pt idx="15">
                  <c:v>100.0</c:v>
                </c:pt>
                <c:pt idx="16">
                  <c:v>100.0</c:v>
                </c:pt>
                <c:pt idx="17">
                  <c:v>100.0</c:v>
                </c:pt>
                <c:pt idx="18">
                  <c:v>100.0</c:v>
                </c:pt>
                <c:pt idx="19">
                  <c:v>100.0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Theory cards</c:v>
                </c:pt>
              </c:strCache>
            </c:strRef>
          </c:tx>
          <c:dPt>
            <c:idx val="0"/>
            <c:spPr>
              <a:solidFill>
                <a:srgbClr val="60A5FA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4ADE80"/>
              </a:solidFill>
            </c:spPr>
          </c:dPt>
          <c:dPt>
            <c:idx val="3"/>
            <c:spPr>
              <a:solidFill>
                <a:srgbClr val="FBBF24"/>
              </a:solidFill>
            </c:spPr>
          </c:dPt>
          <c:dPt>
            <c:idx val="4"/>
            <c:spPr>
              <a:solidFill>
                <a:srgbClr val="A78BFA"/>
              </a:solidFill>
            </c:spPr>
          </c:dPt>
          <c:dPt>
            <c:idx val="5"/>
            <c:spPr>
              <a:solidFill>
                <a:srgbClr val="F87171"/>
              </a:solidFill>
            </c:spPr>
          </c:dPt>
          <c:dLbls>
            <c:txPr>
              <a:bodyPr/>
              <a:lstStyle/>
              <a:p>
                <a:pPr>
                  <a:defRPr sz="1300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 Architectures</c:v>
                </c:pt>
                <c:pt idx="1">
                  <c:v>D2 Reasoning</c:v>
                </c:pt>
                <c:pt idx="2">
                  <c:v>D3 Tools</c:v>
                </c:pt>
                <c:pt idx="3">
                  <c:v>D4 Memory</c:v>
                </c:pt>
                <c:pt idx="4">
                  <c:v>D5 Multi-Agent</c:v>
                </c:pt>
                <c:pt idx="5">
                  <c:v>D6 Safety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21</c:v>
                </c:pt>
                <c:pt idx="2">
                  <c:v>20</c:v>
                </c:pt>
                <c:pt idx="3">
                  <c:v>20</c:v>
                </c:pt>
                <c:pt idx="4">
                  <c:v>21</c:v>
                </c:pt>
                <c:pt idx="5">
                  <c:v>17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Authored</c:v>
                </c:pt>
              </c:strCache>
            </c:strRef>
          </c:tx>
          <c:spPr>
            <a:solidFill>
              <a:srgbClr val="60A5FA"/>
            </a:solidFill>
          </c:spPr>
          <c:dLbls>
            <c:numFmt formatCode="0;;" sourceLinked="0"/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single_choice</c:v>
                </c:pt>
                <c:pt idx="1">
                  <c:v>multi_response</c:v>
                </c:pt>
                <c:pt idx="2">
                  <c:v>ordering</c:v>
                </c:pt>
                <c:pt idx="3">
                  <c:v>matching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330</c:v>
                </c:pt>
                <c:pt idx="1">
                  <c:v>90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334155"/>
            </a:solidFill>
          </c:spPr>
          <c:dLbls>
            <c:numFmt formatCode="0;;" sourceLinked="0"/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single_choice</c:v>
                </c:pt>
                <c:pt idx="1">
                  <c:v>multi_response</c:v>
                </c:pt>
                <c:pt idx="2">
                  <c:v>ordering</c:v>
                </c:pt>
                <c:pt idx="3">
                  <c:v>matching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Easy</c:v>
                </c:pt>
              </c:strCache>
            </c:strRef>
          </c:tx>
          <c:spPr>
            <a:solidFill>
              <a:srgbClr val="4ADE80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19</c:v>
                </c:pt>
                <c:pt idx="2">
                  <c:v>16</c:v>
                </c:pt>
                <c:pt idx="3">
                  <c:v>16</c:v>
                </c:pt>
                <c:pt idx="4">
                  <c:v>13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BBF24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48</c:v>
                </c:pt>
                <c:pt idx="2">
                  <c:v>47</c:v>
                </c:pt>
                <c:pt idx="3">
                  <c:v>46</c:v>
                </c:pt>
                <c:pt idx="4">
                  <c:v>47</c:v>
                </c:pt>
                <c:pt idx="5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Hard</c:v>
                </c:pt>
              </c:strCache>
            </c:strRef>
          </c:tx>
          <c:spPr>
            <a:solidFill>
              <a:srgbClr val="F87171"/>
            </a:solidFill>
          </c:spPr>
          <c:dLbls>
            <c:numFmt formatCode="0;;" sourceLinked="0"/>
            <c:txPr>
              <a:bodyPr/>
              <a:lstStyle/>
              <a:p>
                <a:pPr>
                  <a:defRPr b="1">
                    <a:solidFill>
                      <a:srgbClr val="0F172A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</c:v>
                </c:pt>
                <c:pt idx="1">
                  <c:v>19</c:v>
                </c:pt>
                <c:pt idx="2">
                  <c:v>19</c:v>
                </c:pt>
                <c:pt idx="3">
                  <c:v>20</c:v>
                </c:pt>
                <c:pt idx="4">
                  <c:v>26</c:v>
                </c:pt>
                <c:pt idx="5">
                  <c:v>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</a:p>
      </c:txPr>
    </c:legend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dPt>
            <c:idx val="2"/>
            <c:spPr>
              <a:solidFill>
                <a:srgbClr val="F87171"/>
              </a:solidFill>
            </c:spPr>
          </c:dPt>
          <c:dPt>
            <c:idx val="3"/>
            <c:spPr>
              <a:solidFill>
                <a:srgbClr val="60A5FA"/>
              </a:solidFill>
            </c:spPr>
          </c:dPt>
          <c:dPt>
            <c:idx val="4"/>
            <c:spPr>
              <a:solidFill>
                <a:srgbClr val="60A5FA"/>
              </a:solidFill>
            </c:spPr>
          </c:dPt>
          <c:dPt>
            <c:idx val="5"/>
            <c:spPr>
              <a:solidFill>
                <a:srgbClr val="A78BFA"/>
              </a:solidFill>
            </c:spPr>
          </c:dPt>
          <c:dPt>
            <c:idx val="6"/>
            <c:spPr>
              <a:solidFill>
                <a:srgbClr val="F87171"/>
              </a:solidFill>
            </c:spPr>
          </c:dPt>
          <c:dPt>
            <c:idx val="7"/>
            <c:spPr>
              <a:solidFill>
                <a:srgbClr val="F87171"/>
              </a:solidFill>
            </c:spPr>
          </c:dPt>
          <c:dPt>
            <c:idx val="8"/>
            <c:spPr>
              <a:solidFill>
                <a:srgbClr val="60A5FA"/>
              </a:solidFill>
            </c:spPr>
          </c:dPt>
          <c:dPt>
            <c:idx val="9"/>
            <c:spPr>
              <a:solidFill>
                <a:srgbClr val="2DD4BF"/>
              </a:solidFill>
            </c:spPr>
          </c:dPt>
          <c:dPt>
            <c:idx val="10"/>
            <c:spPr>
              <a:solidFill>
                <a:srgbClr val="2DD4BF"/>
              </a:solidFill>
            </c:spPr>
          </c:dPt>
          <c:dPt>
            <c:idx val="11"/>
            <c:spPr>
              <a:solidFill>
                <a:srgbClr val="A78BFA"/>
              </a:solidFill>
            </c:spPr>
          </c:dPt>
          <c:dPt>
            <c:idx val="12"/>
            <c:spPr>
              <a:solidFill>
                <a:srgbClr val="60A5FA"/>
              </a:solidFill>
            </c:spPr>
          </c:dPt>
          <c:dPt>
            <c:idx val="13"/>
            <c:spPr>
              <a:solidFill>
                <a:srgbClr val="F87171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Context Engineering</c:v>
                </c:pt>
                <c:pt idx="1">
                  <c:v>Tools &amp; Tool Discovery</c:v>
                </c:pt>
                <c:pt idx="2">
                  <c:v>Evaluation &amp; Learning</c:v>
                </c:pt>
                <c:pt idx="3">
                  <c:v>Memory</c:v>
                </c:pt>
                <c:pt idx="4">
                  <c:v>Agent</c:v>
                </c:pt>
                <c:pt idx="5">
                  <c:v>Multi-Agent Systems</c:v>
                </c:pt>
                <c:pt idx="6">
                  <c:v>Error Recovery</c:v>
                </c:pt>
                <c:pt idx="7">
                  <c:v>Guardrails</c:v>
                </c:pt>
                <c:pt idx="8">
                  <c:v>State Mgmt</c:v>
                </c:pt>
                <c:pt idx="9">
                  <c:v>ReAct Loop</c:v>
                </c:pt>
                <c:pt idx="10">
                  <c:v>Planning</c:v>
                </c:pt>
                <c:pt idx="11">
                  <c:v>Orchestration</c:v>
                </c:pt>
                <c:pt idx="12">
                  <c:v>Environment</c:v>
                </c:pt>
                <c:pt idx="13">
                  <c:v>HITL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127</c:v>
                </c:pt>
                <c:pt idx="1">
                  <c:v>115</c:v>
                </c:pt>
                <c:pt idx="2">
                  <c:v>97</c:v>
                </c:pt>
                <c:pt idx="3">
                  <c:v>91</c:v>
                </c:pt>
                <c:pt idx="4">
                  <c:v>85</c:v>
                </c:pt>
                <c:pt idx="5">
                  <c:v>83</c:v>
                </c:pt>
                <c:pt idx="6">
                  <c:v>78</c:v>
                </c:pt>
                <c:pt idx="7">
                  <c:v>72</c:v>
                </c:pt>
                <c:pt idx="8">
                  <c:v>56</c:v>
                </c:pt>
                <c:pt idx="9">
                  <c:v>47</c:v>
                </c:pt>
                <c:pt idx="10">
                  <c:v>42</c:v>
                </c:pt>
                <c:pt idx="11">
                  <c:v>40</c:v>
                </c:pt>
                <c:pt idx="12">
                  <c:v>37</c:v>
                </c:pt>
                <c:pt idx="13">
                  <c:v>26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A78BFA"/>
            </a:solidFill>
          </c:spPr>
          <c:dLbls>
            <c:txPr>
              <a:bodyPr/>
              <a:lstStyle/>
              <a:p>
                <a:pPr>
                  <a:defRPr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execution-order</c:v>
                </c:pt>
                <c:pt idx="1">
                  <c:v>react</c:v>
                </c:pt>
                <c:pt idx="2">
                  <c:v>episodic-memory</c:v>
                </c:pt>
                <c:pt idx="3">
                  <c:v>grounding</c:v>
                </c:pt>
                <c:pt idx="4">
                  <c:v>long-term-memory</c:v>
                </c:pt>
                <c:pt idx="5">
                  <c:v>reflection</c:v>
                </c:pt>
                <c:pt idx="6">
                  <c:v>failure-diagnosis</c:v>
                </c:pt>
                <c:pt idx="7">
                  <c:v>design-tradeoffs</c:v>
                </c:pt>
                <c:pt idx="8">
                  <c:v>task-fit</c:v>
                </c:pt>
                <c:pt idx="9">
                  <c:v>working-memory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14</c:v>
                </c:pt>
                <c:pt idx="6">
                  <c:v>14</c:v>
                </c:pt>
                <c:pt idx="7">
                  <c:v>13</c:v>
                </c:pt>
                <c:pt idx="8">
                  <c:v>13</c:v>
                </c:pt>
                <c:pt idx="9">
                  <c:v>13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1B264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8FA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Calibri"/>
              </a:rPr>
              <a:t>AI Agent Theory Question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  <a:latin typeface="Calibri"/>
              </a:rPr>
              <a:t>Knowledge coverage &amp; question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Framework-agnostic theory behind LangChain / LangGraph-style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Generated from blueprint.json and data/  |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What this bank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Original, self-study curriculum for agent design — not tied to any library's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2DD4BF"/>
                </a:solidFill>
                <a:latin typeface="Calibri"/>
              </a:rPr>
              <a:t>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questions in the bank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Calibri"/>
              </a:rPr>
              <a:t>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domains / task statements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formats: single, multi, ordering,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A78BFA"/>
                </a:solidFill>
                <a:latin typeface="Calibri"/>
              </a:rPr>
              <a:t>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2468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theory 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11155680" cy="29260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Every question links to 1+ reusable theory cards and carries a full explanation (why correct / why each distractor is wrong / rule of thumb).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Tagged with fine-grained tags and normalized curriculum-level concepts (e.g. Context Engineering, ReAct, MCP).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Teaches the concepts that transfer across frameworks — ReAct loops, planning, tool use, memory, multi-agent coordination, safety — rather than LangChain/LangGraph API mechanics.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8FAFC"/>
                </a:solidFill>
                <a:latin typeface="Calibri"/>
              </a:rPr>
              <a:t>•  Quality gates: JSON Schema, referential checks, answer-key checks, near-duplicate detection, blueprint conformance, pytest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Overall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500 of 500 questions authored (100.0%) — blueprint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39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2DD4BF"/>
                </a:solidFill>
                <a:latin typeface="Calibri"/>
              </a:rPr>
              <a:t>500 /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total questions (100.0%)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60A5FA"/>
                </a:solidFill>
                <a:latin typeface="Calibri"/>
              </a:rPr>
              <a:t>480 / 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standalone (100.0%)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>
                <a:solidFill>
                  <a:srgbClr val="FBBF24"/>
                </a:solidFill>
                <a:latin typeface="Calibr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32918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case-study questions (100%)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0" y="14630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Knowledge map: 6 domains, 20 task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What the bank teaches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Calibri"/>
              </a:rPr>
              <a:t>D1 Agent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1.1 What makes a system an agent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1.2 Perceive-reason-act loop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1.3 Reactive / deliberative / hybrid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554480"/>
            <a:ext cx="73152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Calibri"/>
              </a:rPr>
              <a:t>D2 Reasoning &amp;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2.1 ReAct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2.2 Decomposition &amp; planning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2.3 Reflection &amp; self-critique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2.4 Uncertainty &amp; reasoning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630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554480"/>
            <a:ext cx="73152" cy="457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57276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Calibri"/>
              </a:rPr>
              <a:t>D3 Tool Use &amp;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148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3.1 Why agents need tools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3.2 Tool selection &amp; invocation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3.3 Tool failures &amp;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Calibri"/>
              </a:rPr>
              <a:t>D4 Memory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4.1 Working vs long-term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4.2 Episodic / semantic / procedural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4.3 Retrieval, relevance, forgetting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114800"/>
            <a:ext cx="73152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  <a:latin typeface="Calibri"/>
              </a:rPr>
              <a:t>D5 Multi-Agent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5.1 When to decompose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5.2 Orchestrator-worker, debate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5.3 Protocols &amp; shared state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5.4 Emergence &amp; failure modes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402336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4114800"/>
            <a:ext cx="73152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4133088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Calibri"/>
              </a:rPr>
              <a:t>D6 Evaluation,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4709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6.1 Evaluating agents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6.2 Agent-specific safety risks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•  6.3 Guardrails, HITL,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Coverage by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Standalone questions authored vs.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1463040"/>
                <a:gridCol w="1645920"/>
                <a:gridCol w="201168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Authored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Theory cards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D1 Agent Architectures &amp; Foundations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D2 Reasoning &amp; Planning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D3 Tool Use &amp; Grounding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D4 Memory Systems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D5 Multi-Agent Systems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1B2640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D6 Evaluation, Safety &amp; Alignment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ADE8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141E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All six domains at 100%+ of target; validate.py --strict passes.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Coverage by task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Authored questions as % of target (standalone)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11155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All 20 task statements are at their blueprint counts (480 standalone questions).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Theory card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116 of 116 target cards — every card cited by 3–12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1148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Card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Orphan cards (0 refs):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Under-used (&lt;3 refs):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Over-used (&gt;12 refs): 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Most-cited card: 12 refs; least-cited: 3 refs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Each card: summary, key points, rule of thumb, common confusions, research references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Sources limited to arXiv, Anthropic, OpenAI, DeepMind, Google Research, Microsoft, ACL, NeurIPS, PMLR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Question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Standalone mix matches the blueprint: 330 single-choice, 90 multi-response, 30 ordering, 30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132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463040"/>
            <a:ext cx="3749039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single_choice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596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330 / 330 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74320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multi_response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6324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90 / 90 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404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16052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30 / 30  (100%)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3776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25780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alibri"/>
              </a:rPr>
              <a:t>30 / 30  (100%)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Difficulty mix by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Every domain is within the blueprint's ±3 percentage-point tolerance per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46304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Targets (easy / med / hard)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D1: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D2: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D3: 20 / 55 / 25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D4: 20 / 55 / 25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D5: 15 / 55 / 30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D6: 25 / 55 / 20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Actual counts are shown on the bars; labels hide zero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Concept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Normalized curriculum labels per question (a question can carry several)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463040"/>
            <a:ext cx="3383280" cy="493776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Group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alibri"/>
              </a:rPr>
              <a:t>Core Architecture &amp;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56032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400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10896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Cognitive &amp; Reasoning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6616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247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1480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Coordination &amp; Multi-Agent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57200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168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12064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Safety, Guardrails &amp;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57784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273 labels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Top authoring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Fine-grained keywords for search and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46304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506 distinct tags across 500 questions; every question has 2–5.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'execution-order' (18) and 'react' (18) are the most common.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8FAFC"/>
                </a:solidFill>
                <a:latin typeface="Calibri"/>
              </a:rPr>
              <a:t>•  'case-study' (4) marks cross-domain scenario questions where present.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Cross-domain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 scenarios, 20 linked questions — each spans several domains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Warehouse operations agent with protocol tools and human release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Domains: D1, D2, D3, D6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4 single choice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Customs-clearance agent team at a freight forwarder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Domains: D2, D3, D4, D5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single choice; 1 multi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1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1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Incident-response agent team at a payments processor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1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1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Domains: D1, D2, D4, 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1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single choice; 1 multi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42048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Multi-agent insurance claims adjudication with uncertainty, independent review, and injection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Domains: D1, D2, D5, 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single choice; 1 multi 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3184" y="1463040"/>
            <a:ext cx="210312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1554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CS-05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1965960"/>
            <a:ext cx="192023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DevOps incident-response agent team with timeout, memory, contention, and approval 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3474720"/>
            <a:ext cx="19202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3840480"/>
            <a:ext cx="192023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Domains: D3, D4, D5, D6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4297680"/>
            <a:ext cx="192023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 single choice; 1 multi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Case-study questions per domain: D1: 3   D2: 4   D3: 3   D4: 3   D5: 4   D6: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Completion &amp;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500/500 questions and 116/116 theory cards — blueprint fully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Calibri"/>
              </a:rPr>
              <a:t>What was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All 6 domains at target (480 standalone + 20 case-study questions)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20 task statements at their exact blueprint counts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Format mix matched per domain by rewriting surplus single-choice items into multi-response, ordering and matching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Difficulty rebalanced to blueprint targets in every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47 new theory cards added, each verified against an allowed source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Weak templated D5/D6 stubs rewritten as scenario-based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validate.py --strict: schema, uniqueness, references, answer keys, explanations, near-duplicate stems, answer-position balance, blueprint counts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Theory cards: 0 orphans, 0 under-used, 0 over-used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pytest suite passes (58 tests)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 Keep the deck current: python tools/make_slides.py recomputes every number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Everything is reproducible from the command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82296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alibri"/>
              </a:rPr>
              <a:t>validate.py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4592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Schema, references, answer keys, explanations, duplicates, blueprint gates (--strict for exact match)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Calibri"/>
              </a:rPr>
              <a:t>stats.py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3464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Coverage dashboard: domain/task progress, format &amp; difficulty mix, theory usage, tags, concepts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59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Calibri"/>
              </a:rPr>
              <a:t>export_xlsx.py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59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Exports every question to exports/langchain-langgraph-questions.xlsx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29260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Calibri"/>
              </a:rPr>
              <a:t>pytest 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212080"/>
            <a:ext cx="7772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Test suite with one broken fixture per validator rule + blueprint arithmetic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