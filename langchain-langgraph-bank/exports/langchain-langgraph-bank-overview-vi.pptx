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Đã soạn</c:v>
                </c:pt>
              </c:strCache>
            </c:strRef>
          </c:tx>
          <c:spPr>
            <a:solidFill>
              <a:srgbClr val="2DD4BF"/>
            </a:solidFill>
          </c:spPr>
          <c:dLbls>
            <c:numFmt formatCode="0;;" sourceLinked="0"/>
            <c:txPr>
              <a:bodyPr/>
              <a:lstStyle/>
              <a:p>
                <a:pPr>
                  <a:defRPr sz="1200">
                    <a:solidFill>
                      <a:srgbClr val="F8FA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D1 Kiến trúc</c:v>
                </c:pt>
                <c:pt idx="1">
                  <c:v>D2 Suy luận</c:v>
                </c:pt>
                <c:pt idx="2">
                  <c:v>D3 Công cụ</c:v>
                </c:pt>
                <c:pt idx="3">
                  <c:v>D4 Bộ nhớ</c:v>
                </c:pt>
                <c:pt idx="4">
                  <c:v>D5 Đa agent</c:v>
                </c:pt>
                <c:pt idx="5">
                  <c:v>D6 An toàn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</c:v>
                </c:pt>
                <c:pt idx="1">
                  <c:v>86</c:v>
                </c:pt>
                <c:pt idx="2">
                  <c:v>82</c:v>
                </c:pt>
                <c:pt idx="3">
                  <c:v>82</c:v>
                </c:pt>
                <c:pt idx="4">
                  <c:v>86</c:v>
                </c:pt>
                <c:pt idx="5">
                  <c:v>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Còn lại</c:v>
                </c:pt>
              </c:strCache>
            </c:strRef>
          </c:tx>
          <c:spPr>
            <a:solidFill>
              <a:srgbClr val="334155"/>
            </a:solidFill>
          </c:spPr>
          <c:dLbls>
            <c:numFmt formatCode="0;;" sourceLinked="0"/>
            <c:txPr>
              <a:bodyPr/>
              <a:lstStyle/>
              <a:p>
                <a:pPr>
                  <a:defRPr sz="1200">
                    <a:solidFill>
                      <a:srgbClr val="F8FA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D1 Kiến trúc</c:v>
                </c:pt>
                <c:pt idx="1">
                  <c:v>D2 Suy luận</c:v>
                </c:pt>
                <c:pt idx="2">
                  <c:v>D3 Công cụ</c:v>
                </c:pt>
                <c:pt idx="3">
                  <c:v>D4 Bộ nhớ</c:v>
                </c:pt>
                <c:pt idx="4">
                  <c:v>D5 Đa agent</c:v>
                </c:pt>
                <c:pt idx="5">
                  <c:v>D6 An toàn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>
                <a:solidFill>
                  <a:srgbClr val="F8FAF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>
              <a:solidFill>
                <a:srgbClr val="1B264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>
              <a:solidFill>
                <a:srgbClr val="F8FAFC"/>
              </a:solidFill>
            </a:defRPr>
          </a:pPr>
        </a:p>
      </c:txPr>
    </c:legend>
    <c:dispBlanksAs val="gap"/>
  </c:chart>
  <c:txPr>
    <a:bodyPr/>
    <a:lstStyle/>
    <a:p>
      <a:pPr>
        <a:defRPr sz="1300">
          <a:solidFill>
            <a:srgbClr val="F8FAF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hoàn thành</c:v>
                </c:pt>
              </c:strCache>
            </c:strRef>
          </c:tx>
          <c:dPt>
            <c:idx val="0"/>
            <c:spPr>
              <a:solidFill>
                <a:srgbClr val="4ADE80"/>
              </a:solidFill>
            </c:spPr>
          </c:dPt>
          <c:dPt>
            <c:idx val="1"/>
            <c:spPr>
              <a:solidFill>
                <a:srgbClr val="4ADE80"/>
              </a:solidFill>
            </c:spPr>
          </c:dPt>
          <c:dPt>
            <c:idx val="2"/>
            <c:spPr>
              <a:solidFill>
                <a:srgbClr val="4ADE80"/>
              </a:solidFill>
            </c:spPr>
          </c:dPt>
          <c:dPt>
            <c:idx val="3"/>
            <c:spPr>
              <a:solidFill>
                <a:srgbClr val="4ADE80"/>
              </a:solidFill>
            </c:spPr>
          </c:dPt>
          <c:dPt>
            <c:idx val="4"/>
            <c:spPr>
              <a:solidFill>
                <a:srgbClr val="4ADE80"/>
              </a:solidFill>
            </c:spPr>
          </c:dPt>
          <c:dPt>
            <c:idx val="5"/>
            <c:spPr>
              <a:solidFill>
                <a:srgbClr val="4ADE80"/>
              </a:solidFill>
            </c:spPr>
          </c:dPt>
          <c:dPt>
            <c:idx val="6"/>
            <c:spPr>
              <a:solidFill>
                <a:srgbClr val="4ADE80"/>
              </a:solidFill>
            </c:spPr>
          </c:dPt>
          <c:dPt>
            <c:idx val="7"/>
            <c:spPr>
              <a:solidFill>
                <a:srgbClr val="4ADE80"/>
              </a:solidFill>
            </c:spPr>
          </c:dPt>
          <c:dPt>
            <c:idx val="8"/>
            <c:spPr>
              <a:solidFill>
                <a:srgbClr val="4ADE80"/>
              </a:solidFill>
            </c:spPr>
          </c:dPt>
          <c:dPt>
            <c:idx val="9"/>
            <c:spPr>
              <a:solidFill>
                <a:srgbClr val="4ADE80"/>
              </a:solidFill>
            </c:spPr>
          </c:dPt>
          <c:dPt>
            <c:idx val="10"/>
            <c:spPr>
              <a:solidFill>
                <a:srgbClr val="4ADE80"/>
              </a:solidFill>
            </c:spPr>
          </c:dPt>
          <c:dPt>
            <c:idx val="11"/>
            <c:spPr>
              <a:solidFill>
                <a:srgbClr val="4ADE80"/>
              </a:solidFill>
            </c:spPr>
          </c:dPt>
          <c:dPt>
            <c:idx val="12"/>
            <c:spPr>
              <a:solidFill>
                <a:srgbClr val="4ADE80"/>
              </a:solidFill>
            </c:spPr>
          </c:dPt>
          <c:dPt>
            <c:idx val="13"/>
            <c:spPr>
              <a:solidFill>
                <a:srgbClr val="4ADE80"/>
              </a:solidFill>
            </c:spPr>
          </c:dPt>
          <c:dPt>
            <c:idx val="14"/>
            <c:spPr>
              <a:solidFill>
                <a:srgbClr val="4ADE80"/>
              </a:solidFill>
            </c:spPr>
          </c:dPt>
          <c:dPt>
            <c:idx val="15"/>
            <c:spPr>
              <a:solidFill>
                <a:srgbClr val="4ADE80"/>
              </a:solidFill>
            </c:spPr>
          </c:dPt>
          <c:dPt>
            <c:idx val="16"/>
            <c:spPr>
              <a:solidFill>
                <a:srgbClr val="4ADE80"/>
              </a:solidFill>
            </c:spPr>
          </c:dPt>
          <c:dPt>
            <c:idx val="17"/>
            <c:spPr>
              <a:solidFill>
                <a:srgbClr val="4ADE80"/>
              </a:solidFill>
            </c:spPr>
          </c:dPt>
          <c:dPt>
            <c:idx val="18"/>
            <c:spPr>
              <a:solidFill>
                <a:srgbClr val="4ADE80"/>
              </a:solidFill>
            </c:spPr>
          </c:dPt>
          <c:dPt>
            <c:idx val="19"/>
            <c:spPr>
              <a:solidFill>
                <a:srgbClr val="4ADE80"/>
              </a:solidFill>
            </c:spPr>
          </c:dPt>
          <c:dLbls>
            <c:numFmt formatCode="0&quot;%&quot;" sourceLinked="0"/>
            <c:txPr>
              <a:bodyPr/>
              <a:lstStyle/>
              <a:p>
                <a:pPr>
                  <a:defRPr sz="1100">
                    <a:solidFill>
                      <a:srgbClr val="F8FAFC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1.1</c:v>
                </c:pt>
                <c:pt idx="1">
                  <c:v>1.2</c:v>
                </c:pt>
                <c:pt idx="2">
                  <c:v>1.3</c:v>
                </c:pt>
                <c:pt idx="3">
                  <c:v>2.1</c:v>
                </c:pt>
                <c:pt idx="4">
                  <c:v>2.2</c:v>
                </c:pt>
                <c:pt idx="5">
                  <c:v>2.3</c:v>
                </c:pt>
                <c:pt idx="6">
                  <c:v>2.4</c:v>
                </c:pt>
                <c:pt idx="7">
                  <c:v>3.1</c:v>
                </c:pt>
                <c:pt idx="8">
                  <c:v>3.2</c:v>
                </c:pt>
                <c:pt idx="9">
                  <c:v>3.3</c:v>
                </c:pt>
                <c:pt idx="10">
                  <c:v>4.1</c:v>
                </c:pt>
                <c:pt idx="11">
                  <c:v>4.2</c:v>
                </c:pt>
                <c:pt idx="12">
                  <c:v>4.3</c:v>
                </c:pt>
                <c:pt idx="13">
                  <c:v>5.1</c:v>
                </c:pt>
                <c:pt idx="14">
                  <c:v>5.2</c:v>
                </c:pt>
                <c:pt idx="15">
                  <c:v>5.3</c:v>
                </c:pt>
                <c:pt idx="16">
                  <c:v>5.4</c:v>
                </c:pt>
                <c:pt idx="17">
                  <c:v>6.1</c:v>
                </c:pt>
                <c:pt idx="18">
                  <c:v>6.2</c:v>
                </c:pt>
                <c:pt idx="19">
                  <c:v>6.3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  <c:pt idx="10">
                  <c:v>100.0</c:v>
                </c:pt>
                <c:pt idx="11">
                  <c:v>100.0</c:v>
                </c:pt>
                <c:pt idx="12">
                  <c:v>100.0</c:v>
                </c:pt>
                <c:pt idx="13">
                  <c:v>100.0</c:v>
                </c:pt>
                <c:pt idx="14">
                  <c:v>100.0</c:v>
                </c:pt>
                <c:pt idx="15">
                  <c:v>100.0</c:v>
                </c:pt>
                <c:pt idx="16">
                  <c:v>100.0</c:v>
                </c:pt>
                <c:pt idx="17">
                  <c:v>100.0</c:v>
                </c:pt>
                <c:pt idx="18">
                  <c:v>100.0</c:v>
                </c:pt>
                <c:pt idx="19">
                  <c:v>100.0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>
                <a:solidFill>
                  <a:srgbClr val="F8FAF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1B264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F8FAF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Thẻ lý thuyết</c:v>
                </c:pt>
              </c:strCache>
            </c:strRef>
          </c:tx>
          <c:dPt>
            <c:idx val="0"/>
            <c:spPr>
              <a:solidFill>
                <a:srgbClr val="60A5FA"/>
              </a:solidFill>
            </c:spPr>
          </c:dPt>
          <c:dPt>
            <c:idx val="1"/>
            <c:spPr>
              <a:solidFill>
                <a:srgbClr val="2DD4BF"/>
              </a:solidFill>
            </c:spPr>
          </c:dPt>
          <c:dPt>
            <c:idx val="2"/>
            <c:spPr>
              <a:solidFill>
                <a:srgbClr val="4ADE80"/>
              </a:solidFill>
            </c:spPr>
          </c:dPt>
          <c:dPt>
            <c:idx val="3"/>
            <c:spPr>
              <a:solidFill>
                <a:srgbClr val="FBBF24"/>
              </a:solidFill>
            </c:spPr>
          </c:dPt>
          <c:dPt>
            <c:idx val="4"/>
            <c:spPr>
              <a:solidFill>
                <a:srgbClr val="A78BFA"/>
              </a:solidFill>
            </c:spPr>
          </c:dPt>
          <c:dPt>
            <c:idx val="5"/>
            <c:spPr>
              <a:solidFill>
                <a:srgbClr val="F87171"/>
              </a:solidFill>
            </c:spPr>
          </c:dPt>
          <c:dLbls>
            <c:txPr>
              <a:bodyPr/>
              <a:lstStyle/>
              <a:p>
                <a:pPr>
                  <a:defRPr sz="1300">
                    <a:solidFill>
                      <a:srgbClr val="F8FA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D1 Kiến trúc</c:v>
                </c:pt>
                <c:pt idx="1">
                  <c:v>D2 Suy luận</c:v>
                </c:pt>
                <c:pt idx="2">
                  <c:v>D3 Công cụ</c:v>
                </c:pt>
                <c:pt idx="3">
                  <c:v>D4 Bộ nhớ</c:v>
                </c:pt>
                <c:pt idx="4">
                  <c:v>D5 Đa agent</c:v>
                </c:pt>
                <c:pt idx="5">
                  <c:v>D6 An toàn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</c:v>
                </c:pt>
                <c:pt idx="1">
                  <c:v>21</c:v>
                </c:pt>
                <c:pt idx="2">
                  <c:v>20</c:v>
                </c:pt>
                <c:pt idx="3">
                  <c:v>20</c:v>
                </c:pt>
                <c:pt idx="4">
                  <c:v>21</c:v>
                </c:pt>
                <c:pt idx="5">
                  <c:v>17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>
                <a:solidFill>
                  <a:srgbClr val="F8FAF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1B264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F8FAF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Đã soạn</c:v>
                </c:pt>
              </c:strCache>
            </c:strRef>
          </c:tx>
          <c:spPr>
            <a:solidFill>
              <a:srgbClr val="60A5FA"/>
            </a:solidFill>
          </c:spPr>
          <c:dLbls>
            <c:numFmt formatCode="0;;" sourceLinked="0"/>
            <c:txPr>
              <a:bodyPr/>
              <a:lstStyle/>
              <a:p>
                <a:pPr>
                  <a:defRPr>
                    <a:solidFill>
                      <a:srgbClr val="F8FA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Một đáp án (single_choice)</c:v>
                </c:pt>
                <c:pt idx="1">
                  <c:v>Nhiều đáp án (multi_response)</c:v>
                </c:pt>
                <c:pt idx="2">
                  <c:v>Sắp xếp (ordering)</c:v>
                </c:pt>
                <c:pt idx="3">
                  <c:v>Ghép cặp (matching)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330</c:v>
                </c:pt>
                <c:pt idx="1">
                  <c:v>90</c:v>
                </c:pt>
                <c:pt idx="2">
                  <c:v>30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Còn lại</c:v>
                </c:pt>
              </c:strCache>
            </c:strRef>
          </c:tx>
          <c:spPr>
            <a:solidFill>
              <a:srgbClr val="334155"/>
            </a:solidFill>
          </c:spPr>
          <c:dLbls>
            <c:numFmt formatCode="0;;" sourceLinked="0"/>
            <c:txPr>
              <a:bodyPr/>
              <a:lstStyle/>
              <a:p>
                <a:pPr>
                  <a:defRPr>
                    <a:solidFill>
                      <a:srgbClr val="F8FA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Một đáp án (single_choice)</c:v>
                </c:pt>
                <c:pt idx="1">
                  <c:v>Nhiều đáp án (multi_response)</c:v>
                </c:pt>
                <c:pt idx="2">
                  <c:v>Sắp xếp (ordering)</c:v>
                </c:pt>
                <c:pt idx="3">
                  <c:v>Ghép cặp (matching)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>
                <a:solidFill>
                  <a:srgbClr val="F8FAF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>
              <a:solidFill>
                <a:srgbClr val="1B264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>
              <a:solidFill>
                <a:srgbClr val="F8FAFC"/>
              </a:solidFill>
            </a:defRPr>
          </a:pPr>
        </a:p>
      </c:txPr>
    </c:legend>
    <c:dispBlanksAs val="gap"/>
  </c:chart>
  <c:txPr>
    <a:bodyPr/>
    <a:lstStyle/>
    <a:p>
      <a:pPr>
        <a:defRPr sz="1300">
          <a:solidFill>
            <a:srgbClr val="F8FAF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Dễ</c:v>
                </c:pt>
              </c:strCache>
            </c:strRef>
          </c:tx>
          <c:spPr>
            <a:solidFill>
              <a:srgbClr val="4ADE80"/>
            </a:solidFill>
          </c:spPr>
          <c:dLbls>
            <c:numFmt formatCode="0;;" sourceLinked="0"/>
            <c:txPr>
              <a:bodyPr/>
              <a:lstStyle/>
              <a:p>
                <a:pPr>
                  <a:defRPr b="1">
                    <a:solidFill>
                      <a:srgbClr val="0F172A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19</c:v>
                </c:pt>
                <c:pt idx="2">
                  <c:v>16</c:v>
                </c:pt>
                <c:pt idx="3">
                  <c:v>16</c:v>
                </c:pt>
                <c:pt idx="4">
                  <c:v>13</c:v>
                </c:pt>
                <c:pt idx="5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Trung bình</c:v>
                </c:pt>
              </c:strCache>
            </c:strRef>
          </c:tx>
          <c:spPr>
            <a:solidFill>
              <a:srgbClr val="FBBF24"/>
            </a:solidFill>
          </c:spPr>
          <c:dLbls>
            <c:numFmt formatCode="0;;" sourceLinked="0"/>
            <c:txPr>
              <a:bodyPr/>
              <a:lstStyle/>
              <a:p>
                <a:pPr>
                  <a:defRPr b="1">
                    <a:solidFill>
                      <a:srgbClr val="0F172A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</c:v>
                </c:pt>
                <c:pt idx="1">
                  <c:v>48</c:v>
                </c:pt>
                <c:pt idx="2">
                  <c:v>47</c:v>
                </c:pt>
                <c:pt idx="3">
                  <c:v>46</c:v>
                </c:pt>
                <c:pt idx="4">
                  <c:v>47</c:v>
                </c:pt>
                <c:pt idx="5">
                  <c:v>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Khó</c:v>
                </c:pt>
              </c:strCache>
            </c:strRef>
          </c:tx>
          <c:spPr>
            <a:solidFill>
              <a:srgbClr val="F87171"/>
            </a:solidFill>
          </c:spPr>
          <c:dLbls>
            <c:numFmt formatCode="0;;" sourceLinked="0"/>
            <c:txPr>
              <a:bodyPr/>
              <a:lstStyle/>
              <a:p>
                <a:pPr>
                  <a:defRPr b="1">
                    <a:solidFill>
                      <a:srgbClr val="0F172A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14</c:v>
                </c:pt>
                <c:pt idx="1">
                  <c:v>19</c:v>
                </c:pt>
                <c:pt idx="2">
                  <c:v>19</c:v>
                </c:pt>
                <c:pt idx="3">
                  <c:v>20</c:v>
                </c:pt>
                <c:pt idx="4">
                  <c:v>26</c:v>
                </c:pt>
                <c:pt idx="5">
                  <c:v>14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>
                <a:solidFill>
                  <a:srgbClr val="F8FAF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1B264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>
              <a:solidFill>
                <a:srgbClr val="F8FAFC"/>
              </a:solidFill>
            </a:defRPr>
          </a:pPr>
        </a:p>
      </c:txPr>
    </c:legend>
    <c:dispBlanksAs val="gap"/>
  </c:chart>
  <c:txPr>
    <a:bodyPr/>
    <a:lstStyle/>
    <a:p>
      <a:pPr>
        <a:defRPr sz="1300">
          <a:solidFill>
            <a:srgbClr val="F8FAF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Câu hỏi</c:v>
                </c:pt>
              </c:strCache>
            </c:strRef>
          </c:tx>
          <c:dPt>
            <c:idx val="0"/>
            <c:spPr>
              <a:solidFill>
                <a:srgbClr val="2DD4BF"/>
              </a:solidFill>
            </c:spPr>
          </c:dPt>
          <c:dPt>
            <c:idx val="1"/>
            <c:spPr>
              <a:solidFill>
                <a:srgbClr val="60A5FA"/>
              </a:solidFill>
            </c:spPr>
          </c:dPt>
          <c:dPt>
            <c:idx val="2"/>
            <c:spPr>
              <a:solidFill>
                <a:srgbClr val="F87171"/>
              </a:solidFill>
            </c:spPr>
          </c:dPt>
          <c:dPt>
            <c:idx val="3"/>
            <c:spPr>
              <a:solidFill>
                <a:srgbClr val="60A5FA"/>
              </a:solidFill>
            </c:spPr>
          </c:dPt>
          <c:dPt>
            <c:idx val="4"/>
            <c:spPr>
              <a:solidFill>
                <a:srgbClr val="60A5FA"/>
              </a:solidFill>
            </c:spPr>
          </c:dPt>
          <c:dPt>
            <c:idx val="5"/>
            <c:spPr>
              <a:solidFill>
                <a:srgbClr val="A78BFA"/>
              </a:solidFill>
            </c:spPr>
          </c:dPt>
          <c:dPt>
            <c:idx val="6"/>
            <c:spPr>
              <a:solidFill>
                <a:srgbClr val="F87171"/>
              </a:solidFill>
            </c:spPr>
          </c:dPt>
          <c:dPt>
            <c:idx val="7"/>
            <c:spPr>
              <a:solidFill>
                <a:srgbClr val="F87171"/>
              </a:solidFill>
            </c:spPr>
          </c:dPt>
          <c:dPt>
            <c:idx val="8"/>
            <c:spPr>
              <a:solidFill>
                <a:srgbClr val="60A5FA"/>
              </a:solidFill>
            </c:spPr>
          </c:dPt>
          <c:dPt>
            <c:idx val="9"/>
            <c:spPr>
              <a:solidFill>
                <a:srgbClr val="2DD4BF"/>
              </a:solidFill>
            </c:spPr>
          </c:dPt>
          <c:dPt>
            <c:idx val="10"/>
            <c:spPr>
              <a:solidFill>
                <a:srgbClr val="2DD4BF"/>
              </a:solidFill>
            </c:spPr>
          </c:dPt>
          <c:dPt>
            <c:idx val="11"/>
            <c:spPr>
              <a:solidFill>
                <a:srgbClr val="A78BFA"/>
              </a:solidFill>
            </c:spPr>
          </c:dPt>
          <c:dPt>
            <c:idx val="12"/>
            <c:spPr>
              <a:solidFill>
                <a:srgbClr val="60A5FA"/>
              </a:solidFill>
            </c:spPr>
          </c:dPt>
          <c:dPt>
            <c:idx val="13"/>
            <c:spPr>
              <a:solidFill>
                <a:srgbClr val="F87171"/>
              </a:solidFill>
            </c:spPr>
          </c:dPt>
          <c:dLbls>
            <c:txPr>
              <a:bodyPr/>
              <a:lstStyle/>
              <a:p>
                <a:pPr>
                  <a:defRPr>
                    <a:solidFill>
                      <a:srgbClr val="F8FA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Context Engineering</c:v>
                </c:pt>
                <c:pt idx="1">
                  <c:v>Tools &amp; Tool Discovery</c:v>
                </c:pt>
                <c:pt idx="2">
                  <c:v>Evaluation &amp; Learning</c:v>
                </c:pt>
                <c:pt idx="3">
                  <c:v>Memory</c:v>
                </c:pt>
                <c:pt idx="4">
                  <c:v>Agent</c:v>
                </c:pt>
                <c:pt idx="5">
                  <c:v>Multi-Agent Systems</c:v>
                </c:pt>
                <c:pt idx="6">
                  <c:v>Error Recovery</c:v>
                </c:pt>
                <c:pt idx="7">
                  <c:v>Guardrails</c:v>
                </c:pt>
                <c:pt idx="8">
                  <c:v>State Mgmt</c:v>
                </c:pt>
                <c:pt idx="9">
                  <c:v>ReAct Loop</c:v>
                </c:pt>
                <c:pt idx="10">
                  <c:v>Planning</c:v>
                </c:pt>
                <c:pt idx="11">
                  <c:v>Orchestration</c:v>
                </c:pt>
                <c:pt idx="12">
                  <c:v>Environment</c:v>
                </c:pt>
                <c:pt idx="13">
                  <c:v>HITL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127</c:v>
                </c:pt>
                <c:pt idx="1">
                  <c:v>115</c:v>
                </c:pt>
                <c:pt idx="2">
                  <c:v>97</c:v>
                </c:pt>
                <c:pt idx="3">
                  <c:v>91</c:v>
                </c:pt>
                <c:pt idx="4">
                  <c:v>85</c:v>
                </c:pt>
                <c:pt idx="5">
                  <c:v>83</c:v>
                </c:pt>
                <c:pt idx="6">
                  <c:v>78</c:v>
                </c:pt>
                <c:pt idx="7">
                  <c:v>72</c:v>
                </c:pt>
                <c:pt idx="8">
                  <c:v>56</c:v>
                </c:pt>
                <c:pt idx="9">
                  <c:v>47</c:v>
                </c:pt>
                <c:pt idx="10">
                  <c:v>42</c:v>
                </c:pt>
                <c:pt idx="11">
                  <c:v>40</c:v>
                </c:pt>
                <c:pt idx="12">
                  <c:v>37</c:v>
                </c:pt>
                <c:pt idx="13">
                  <c:v>26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>
                <a:solidFill>
                  <a:srgbClr val="F8FAF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>
              <a:solidFill>
                <a:srgbClr val="1B264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F8FAF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Câu hỏi</c:v>
                </c:pt>
              </c:strCache>
            </c:strRef>
          </c:tx>
          <c:spPr>
            <a:solidFill>
              <a:srgbClr val="A78BFA"/>
            </a:solidFill>
          </c:spPr>
          <c:dLbls>
            <c:txPr>
              <a:bodyPr/>
              <a:lstStyle/>
              <a:p>
                <a:pPr>
                  <a:defRPr>
                    <a:solidFill>
                      <a:srgbClr val="F8FA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execution-order</c:v>
                </c:pt>
                <c:pt idx="1">
                  <c:v>react</c:v>
                </c:pt>
                <c:pt idx="2">
                  <c:v>episodic-memory</c:v>
                </c:pt>
                <c:pt idx="3">
                  <c:v>grounding</c:v>
                </c:pt>
                <c:pt idx="4">
                  <c:v>long-term-memory</c:v>
                </c:pt>
                <c:pt idx="5">
                  <c:v>reflection</c:v>
                </c:pt>
                <c:pt idx="6">
                  <c:v>failure-diagnosis</c:v>
                </c:pt>
                <c:pt idx="7">
                  <c:v>design-tradeoffs</c:v>
                </c:pt>
                <c:pt idx="8">
                  <c:v>task-fit</c:v>
                </c:pt>
                <c:pt idx="9">
                  <c:v>working-memory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</c:v>
                </c:pt>
                <c:pt idx="1">
                  <c:v>18</c:v>
                </c:pt>
                <c:pt idx="2">
                  <c:v>18</c:v>
                </c:pt>
                <c:pt idx="3">
                  <c:v>16</c:v>
                </c:pt>
                <c:pt idx="4">
                  <c:v>16</c:v>
                </c:pt>
                <c:pt idx="5">
                  <c:v>14</c:v>
                </c:pt>
                <c:pt idx="6">
                  <c:v>14</c:v>
                </c:pt>
                <c:pt idx="7">
                  <c:v>13</c:v>
                </c:pt>
                <c:pt idx="8">
                  <c:v>13</c:v>
                </c:pt>
                <c:pt idx="9">
                  <c:v>13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>
                <a:solidFill>
                  <a:srgbClr val="F8FAF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>
              <a:solidFill>
                <a:srgbClr val="1B264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F8FAF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F8FAFC"/>
                </a:solidFill>
                <a:latin typeface="Calibri"/>
              </a:rPr>
              <a:t>Ngân hàng câu hỏi lý thuyết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0">
                <a:solidFill>
                  <a:srgbClr val="2DD4BF"/>
                </a:solidFill>
                <a:latin typeface="Calibri"/>
              </a:rPr>
              <a:t>Độ phủ kiến thức &amp; thống kê câu hỏi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Lý thuyết độc lập framework đằng sau các agent kiểu LangChain / 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Được tạo từ blueprint.json và data/  |  2026-10-12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Ngân hàng câu hỏi này là gì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Giáo trình tự học nguyên bản về thiết kế agent — không gắn với API của bất kỳ thư viện nào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8229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39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800" b="1">
                <a:solidFill>
                  <a:srgbClr val="2DD4BF"/>
                </a:solidFill>
                <a:latin typeface="Calibri"/>
              </a:rPr>
              <a:t>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246887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câu hỏi trong ngân hàng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55448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691639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800" b="1">
                <a:solidFill>
                  <a:srgbClr val="60A5FA"/>
                </a:solidFill>
                <a:latin typeface="Calibri"/>
              </a:rPr>
              <a:t>6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68880"/>
            <a:ext cx="246887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domain / task statement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691639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800" b="1">
                <a:solidFill>
                  <a:srgbClr val="FBBF24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468880"/>
            <a:ext cx="246887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dạng câu: một đáp án, nhiều đáp án, sắp xếp, ghép cặp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55448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691639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800" b="1">
                <a:solidFill>
                  <a:srgbClr val="A78BFA"/>
                </a:solidFill>
                <a:latin typeface="Calibri"/>
              </a:rPr>
              <a:t>116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468880"/>
            <a:ext cx="246887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thẻ lý thuyết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91840"/>
            <a:ext cx="11155680" cy="292608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2900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F8FAFC"/>
                </a:solidFill>
                <a:latin typeface="Calibri"/>
              </a:rPr>
              <a:t>•  Mỗi câu hỏi liên kết với 1+ thẻ lý thuyết tái sử dụng và có giải thích đầy đủ (vì sao đúng / vì sao từng đáp án nhiễu sai / quy tắc ngón tay).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F8FAFC"/>
                </a:solidFill>
                <a:latin typeface="Calibri"/>
              </a:rPr>
              <a:t>•  Gắn tag chi tiết và khái niệm được chuẩn hóa theo giáo trình (ví dụ Context Engineering, ReAct, MCP).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F8FAFC"/>
                </a:solidFill>
                <a:latin typeface="Calibri"/>
              </a:rPr>
              <a:t>•  Dạy các khái niệm dùng được cho mọi framework — vòng lặp ReAct, lập kế hoạch, dùng công cụ, bộ nhớ, phối hợp đa agent, an toàn — chứ không phải cơ chế API của LangChain/LangGraph.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F8FAFC"/>
                </a:solidFill>
                <a:latin typeface="Calibri"/>
              </a:rPr>
              <a:t>•  Cổng kiểm định chất lượng: JSON Schema, kiểm tra tham chiếu, kiểm tra đáp án, phát hiện trùng lặp gần giống, khớp blueprint, bộ test pytest.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Tiến độ tổng thể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500/500 câu đã soạn (100.0%) — đã đạt blueprint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8229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14630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39"/>
            <a:ext cx="3474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800" b="1">
                <a:solidFill>
                  <a:srgbClr val="2DD4BF"/>
                </a:solidFill>
                <a:latin typeface="Calibri"/>
              </a:rPr>
              <a:t>500 / 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29183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tổng số câu hỏi (100.0%)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3474720" cy="14630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3474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800" b="1">
                <a:solidFill>
                  <a:srgbClr val="60A5FA"/>
                </a:solidFill>
                <a:latin typeface="Calibri"/>
              </a:rPr>
              <a:t>480 / 480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329183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câu độc lập (100.0%)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46320"/>
            <a:ext cx="3474720" cy="14630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983480"/>
            <a:ext cx="3474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800" b="1">
                <a:solidFill>
                  <a:srgbClr val="FBBF24"/>
                </a:solidFill>
                <a:latin typeface="Calibri"/>
              </a:rPr>
              <a:t>20 /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329183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câu case study (100%)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297680" y="1463040"/>
          <a:ext cx="7498079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Bản đồ kiến thức: 6 domain, 20 task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Ngân hàng dạy những gì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8229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73152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3337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60A5FA"/>
                </a:solidFill>
                <a:latin typeface="Calibri"/>
              </a:rPr>
              <a:t>D1 Kiến trúc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1.1 Điều gì làm nên một agent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1.2 Vòng lặp cảm nhận-suy luận-hành động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1.3 Phản xạ / cân nhắc / lai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4630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554480"/>
            <a:ext cx="73152" cy="457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572768"/>
            <a:ext cx="3337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2DD4BF"/>
                </a:solidFill>
                <a:latin typeface="Calibri"/>
              </a:rPr>
              <a:t>D2 Suy luận &amp; Lập kế hoạch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1488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2.1 ReAct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2.2 Phân rã &amp; lập kế hoạch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2.3 Phản tư &amp; tự phê phán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2.4 Bất định &amp; lỗi suy luận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4630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554480"/>
            <a:ext cx="73152" cy="4572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1572768"/>
            <a:ext cx="3337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4ADE80"/>
                </a:solidFill>
                <a:latin typeface="Calibri"/>
              </a:rPr>
              <a:t>D3 Dùng công cụ &amp; Grounding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21488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3.1 Vì sao agent cần công cụ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3.2 Chọn &amp; gọi công cụ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3.3 Lỗi công cụ &amp; phục hồi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2336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114800"/>
            <a:ext cx="73152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33088"/>
            <a:ext cx="3337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FBBF24"/>
                </a:solidFill>
                <a:latin typeface="Calibri"/>
              </a:rPr>
              <a:t>D4 Hệ thống bộ nhớ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091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4.1 Ngắn hạn vs dài hạn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4.2 Sự kiện / ngữ nghĩa / thủ tục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4.3 Truy xuất, liên quan, quên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402336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5968" y="4114800"/>
            <a:ext cx="73152" cy="457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4133088"/>
            <a:ext cx="3337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A78BFA"/>
                </a:solidFill>
                <a:latin typeface="Calibri"/>
              </a:rPr>
              <a:t>D5 Hệ thống đa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47091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5.1 Khi nào nên tách agent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5.2 Orchestrator-worker, tranh biện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5.3 Giao thức &amp; trạng thái chung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5.4 Hiện tượng nổi sinh &amp; kiểu lỗi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3296" y="402336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83296" y="4114800"/>
            <a:ext cx="73152" cy="4572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6175" y="4133088"/>
            <a:ext cx="3337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F87171"/>
                </a:solidFill>
                <a:latin typeface="Calibri"/>
              </a:rPr>
              <a:t>D6 Đánh giá, An toàn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5" y="47091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6.1 Đánh giá agent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6.2 Rủi ro an toàn đặc thù của agent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6.3 Guardrail, HITL, alignment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Độ phủ theo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Câu hỏi độc lập đã soạn so với mục tiêu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8229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463040"/>
                <a:gridCol w="1463040"/>
                <a:gridCol w="1645920"/>
                <a:gridCol w="2011680"/>
              </a:tblGrid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 anchor="ctr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F172A"/>
                          </a:solidFill>
                          <a:latin typeface="Calibri"/>
                        </a:rPr>
                        <a:t>Đã soạn</a:t>
                      </a:r>
                    </a:p>
                  </a:txBody>
                  <a:tcPr anchor="ctr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F172A"/>
                          </a:solidFill>
                          <a:latin typeface="Calibri"/>
                        </a:rPr>
                        <a:t>Mục tiêu</a:t>
                      </a:r>
                    </a:p>
                  </a:txBody>
                  <a:tcPr anchor="ctr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F172A"/>
                          </a:solidFill>
                          <a:latin typeface="Calibri"/>
                        </a:rPr>
                        <a:t>Hoàn thành</a:t>
                      </a:r>
                    </a:p>
                  </a:txBody>
                  <a:tcPr anchor="ctr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F172A"/>
                          </a:solidFill>
                          <a:latin typeface="Calibri"/>
                        </a:rPr>
                        <a:t>Thẻ lý thuyết</a:t>
                      </a:r>
                    </a:p>
                  </a:txBody>
                  <a:tcPr anchor="ctr">
                    <a:solidFill>
                      <a:srgbClr val="2DD4B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D1 Kiến trúc &amp; nền tảng Agent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4ADE8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D2 Suy luận &amp; Lập kế hoạch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4ADE8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D3 Dùng công cụ &amp; Grounding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4ADE8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D4 Hệ thống bộ nhớ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4ADE8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D5 Hệ thống đa agent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4ADE8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D6 Đánh giá, An toàn &amp; Alignment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4ADE8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Cả sáu domain đạt ≥100% mục tiêu; validate.py --strict đạt.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Độ phủ theo task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Số câu đã soạn theo % mục tiêu (độc lập)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8229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63040"/>
          <a:ext cx="111556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5216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Cả 20 task statement đều đủ số câu theo blueprint (480 câu độc lập).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Thư viện thẻ lý thuyết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116/116 thẻ mục tiêu — mỗi thẻ được 3–12 câu hỏi viện dẫn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8229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63040"/>
          <a:ext cx="67665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463040"/>
            <a:ext cx="4114800" cy="475488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Calibri"/>
              </a:rPr>
              <a:t>Tình trạng thẻ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0312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Thẻ mồ côi (0 tham chiếu): 0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Thẻ dùng ít (&lt;3 tham chiếu): 0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Thẻ dùng quá nhiều (&gt;12 tham chiếu): 0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Thẻ được dùng nhiều nhất: 12 tham chiếu; ít nhất: 3 tham chiếu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Mỗi thẻ gồm: tóm tắt, ý chính, quy tắc ngón tay, nhầm lẫn thường gặp, tài liệu nghiên cứu tham chiếu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Nguồn giới hạn ở arXiv, Anthropic, OpenAI, DeepMind, Google Research, Microsoft, ACL, NeurIPS, PMLR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Dạng câu hỏi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Cơ cấu câu độc lập khớp blueprint: 330 một đáp án, 90 nhiều đáp án, 30 sắp xếp, 30 ghép cặp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8229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63040"/>
          <a:ext cx="71323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55279" y="1463040"/>
            <a:ext cx="3749039" cy="475488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Một đáp án (single_choice)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96596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4ADE80"/>
                </a:solidFill>
                <a:latin typeface="Calibri"/>
              </a:rPr>
              <a:t>330 / 330  (100%)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74320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Nhiều đáp án (multi_response)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06324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4ADE80"/>
                </a:solidFill>
                <a:latin typeface="Calibri"/>
              </a:rPr>
              <a:t>90 / 90  (100%)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84048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Sắp xếp (ordering)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16052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4ADE80"/>
                </a:solidFill>
                <a:latin typeface="Calibri"/>
              </a:rPr>
              <a:t>30 / 30  (100%)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93776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Ghép cặp (matching)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525780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4ADE80"/>
                </a:solidFill>
                <a:latin typeface="Calibri"/>
              </a:rPr>
              <a:t>30 / 30  (100%)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Phân bố độ khó theo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Mọi domain đều nằm trong dung sai ±3 điểm phần trăm của blueprint ở từng mức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8229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63040"/>
          <a:ext cx="73152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138160" y="1463040"/>
            <a:ext cx="3566160" cy="484632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5544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Mục tiêu (dễ / TB / khó)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1031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D1: 25 / 55 / 20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D2: 25 / 55 / 20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D3: 20 / 55 / 25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D4: 20 / 55 / 25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D5: 15 / 55 / 30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D6: 25 / 55 / 20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Số thực tế hiển thị trên cột; nhãn bằng 0 được ẩn.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Độ phủ khái niệm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Nhãn giáo trình chuẩn hóa cho mỗi câu (một câu có thể có nhiều nhãn)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8229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63040"/>
          <a:ext cx="7498079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21040" y="1463040"/>
            <a:ext cx="3383280" cy="493776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55448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Calibri"/>
              </a:rPr>
              <a:t>Tổng theo nhóm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103120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Calibri"/>
              </a:rPr>
              <a:t>Kiến trúc lõi &amp; thành phần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560320"/>
            <a:ext cx="3108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400 nhãn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108960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Calibri"/>
              </a:rPr>
              <a:t>Cơ chế nhận thức &amp; suy luận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566160"/>
            <a:ext cx="3108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247 nhãn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114800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Phối hợp &amp; mở rộng đa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572000"/>
            <a:ext cx="3108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168 nhãn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5120640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Calibri"/>
              </a:rPr>
              <a:t>An toàn, guardrail &amp; cải tiến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5577840"/>
            <a:ext cx="3108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273 nhãn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Tag soạn câu phổ biến nhất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Từ khóa chi tiết để tìm kiếm và lọc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8229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63040"/>
          <a:ext cx="73152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138160" y="1463040"/>
            <a:ext cx="3566160" cy="484632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F8FAFC"/>
                </a:solidFill>
                <a:latin typeface="Calibri"/>
              </a:rPr>
              <a:t>•  506 tag khác nhau trên 500 câu hỏi; mỗi câu có 2–5 tag.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F8FAFC"/>
                </a:solidFill>
                <a:latin typeface="Calibri"/>
              </a:rPr>
              <a:t>•  'execution-order' (18) và 'react' (18) là hai tag phổ biến nhất.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F8FAFC"/>
                </a:solidFill>
                <a:latin typeface="Calibri"/>
              </a:rPr>
              <a:t>•  'case-study' (4) đánh dấu các câu tình huống liên domain.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Case study liên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5 tình huống, 20 câu hỏi liên kết — mỗi tình huống trải qua nhiều domain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8229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103120" cy="475488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9202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Calibri"/>
              </a:rPr>
              <a:t>CS-01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920239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Calibri"/>
              </a:rPr>
              <a:t>Agent vận hành kho với công cụ qua giao thức và người duyệt phát hành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192023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4 câu hỏi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19202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Domain: D1, D2, D3, D6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1920239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4 một đáp án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9776" y="1463040"/>
            <a:ext cx="2103120" cy="475488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1216" y="1554480"/>
            <a:ext cx="19202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Calibri"/>
              </a:rPr>
              <a:t>CS-02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6" y="1965960"/>
            <a:ext cx="1920239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Calibri"/>
              </a:rPr>
              <a:t>Đội agent thông quan tại công ty giao nhận vận tải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1216" y="3474720"/>
            <a:ext cx="192023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4 câu hỏi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1216" y="3840480"/>
            <a:ext cx="19202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Domain: D2, D3, D4, D5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1216" y="4297680"/>
            <a:ext cx="1920239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3 một đáp án; 1 nhiều đáp án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10912" y="1463040"/>
            <a:ext cx="2103120" cy="475488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2351" y="1554480"/>
            <a:ext cx="19202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Calibri"/>
              </a:rPr>
              <a:t>CS-03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1" y="1965960"/>
            <a:ext cx="1920239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Calibri"/>
              </a:rPr>
              <a:t>Đội agent ứng phó sự cố tại công ty xử lý thanh toán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1" y="3474720"/>
            <a:ext cx="192023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4 câu hỏi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1" y="3840480"/>
            <a:ext cx="19202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Domain: D1, D2, D4, D5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1" y="4297680"/>
            <a:ext cx="1920239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3 một đáp án; 1 nhiều đáp án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42048" y="1463040"/>
            <a:ext cx="2103120" cy="475488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33488" y="1554480"/>
            <a:ext cx="19202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Calibri"/>
              </a:rPr>
              <a:t>CS-04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1965960"/>
            <a:ext cx="1920239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Calibri"/>
              </a:rPr>
              <a:t>Thẩm định bồi thường bảo hiểm đa agent: bất định, đánh giá độc lập và rủi ro injection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3474720"/>
            <a:ext cx="192023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4 câu hỏi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3488" y="3840480"/>
            <a:ext cx="19202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Domain: D1, D2, D5, D6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3488" y="4297680"/>
            <a:ext cx="1920239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3 một đáp án; 1 nhiều đáp án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73184" y="1463040"/>
            <a:ext cx="2103120" cy="475488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64624" y="1554480"/>
            <a:ext cx="19202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Calibri"/>
              </a:rPr>
              <a:t>CS-05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64624" y="1965960"/>
            <a:ext cx="1920239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Calibri"/>
              </a:rPr>
              <a:t>Đội agent ứng phó sự cố DevOps: timeout, bộ nhớ, tranh chấp tài nguyên và phê duyệt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64624" y="3474720"/>
            <a:ext cx="192023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4 câu hỏi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64624" y="3840480"/>
            <a:ext cx="19202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Domain: D3, D4, D5, D6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64624" y="4297680"/>
            <a:ext cx="1920239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3 một đáp án; 1 nhiều đáp án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35508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Số câu case study theo domain: D1: 3   D2: 4   D3: 3   D4: 3   D5: 4   D6: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Hoàn thành &amp; cổng chất lượng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500/500 câu hỏi và 116/116 thẻ lý thuyết — đã đạt đầy đủ blueprint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8229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4ADE80"/>
                </a:solidFill>
                <a:latin typeface="Calibri"/>
              </a:rPr>
              <a:t>Những gì đã hoàn thành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Cả 6 domain đạt mục tiêu (480 câu độc lập + 20 câu case study)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20 task statement đúng số câu theo blueprint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Cơ cấu dạng câu khớp từng domain nhờ viết lại các câu một đáp án dư thành nhiều đáp án, sắp xếp và ghép cặp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Độ khó được cân bằng lại theo mục tiêu blueprint ở mọi domain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Thêm 47 thẻ lý thuyết mới, mỗi thẻ đã được kiểm chứng với nguồn thuộc domain cho phép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Các câu D5/D6 sơ sài theo mẫu được viết lại thành câu tình huống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486400" cy="475488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Calibri"/>
              </a:rPr>
              <a:t>Kiểm chứng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validate.py --strict: schema, tính duy nhất, tham chiếu, đáp án, giải thích, đề bài gần trùng, cân bằng vị trí đáp án, số lượng theo blueprint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Thẻ lý thuyết: 0 mồ côi, 0 dùng ít, 0 dùng quá nhiều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Bộ test pytest đạt (58 test)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Giữ bộ slide cập nhật: python tools/make_slides.py tính lại mọi số liệu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Bộ công cụ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Mọi thứ đều tái tạo được từ dòng lệnh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8229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292608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000" b="1">
                <a:solidFill>
                  <a:srgbClr val="60A5FA"/>
                </a:solidFill>
                <a:latin typeface="Calibri"/>
              </a:rPr>
              <a:t>validate.py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645920"/>
            <a:ext cx="777240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Schema, tham chiếu, đáp án, giải thích, trùng lặp, cổng blueprint (--strict để khớp tuyệt đối)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292608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Calibri"/>
              </a:rPr>
              <a:t>stats.py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834640"/>
            <a:ext cx="777240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Bảng điều khiển độ phủ: tiến độ domain/task, dạng câu &amp; độ khó, mức dùng thẻ, tag, khái niệm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23359"/>
            <a:ext cx="292608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000" b="1">
                <a:solidFill>
                  <a:srgbClr val="FBBF24"/>
                </a:solidFill>
                <a:latin typeface="Calibri"/>
              </a:rPr>
              <a:t>export_xlsx.py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023359"/>
            <a:ext cx="777240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Xuất toàn bộ câu hỏi ra exports/langchain-langgraph-questions.xlsx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2064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212080"/>
            <a:ext cx="292608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000" b="1">
                <a:solidFill>
                  <a:srgbClr val="A78BFA"/>
                </a:solidFill>
                <a:latin typeface="Calibri"/>
              </a:rPr>
              <a:t>pytest tests/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5212080"/>
            <a:ext cx="777240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Bộ test với một fixture lỗi cho mỗi quy tắc validator + kiểm tra số học của blueprint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